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3191" autoAdjust="0"/>
  </p:normalViewPr>
  <p:slideViewPr>
    <p:cSldViewPr snapToGrid="0" snapToObjects="1">
      <p:cViewPr varScale="1">
        <p:scale>
          <a:sx n="52" d="100"/>
          <a:sy n="52" d="100"/>
        </p:scale>
        <p:origin x="12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41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2844800" cy="457200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28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3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Readmission Risk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HSE Cost-Impact 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30-day readmission and mapping each patient to an Irish HSE post-discharge care pathway.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623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Name - Ya Wai Thone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Student ID - 24264245</a:t>
            </a:r>
          </a:p>
        </p:txBody>
      </p:sp>
      <p:pic>
        <p:nvPicPr>
          <p:cNvPr id="9" name="Graphic 8" descr="Hospital with solid fill">
            <a:extLst>
              <a:ext uri="{FF2B5EF4-FFF2-40B4-BE49-F238E27FC236}">
                <a16:creationId xmlns:a16="http://schemas.microsoft.com/office/drawing/2014/main" id="{08040838-0515-C147-A3FA-68DA26387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8320" y="2057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 is a quality signal and a cost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3880" y="195731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E75"/>
                </a:solidFill>
                <a:ea typeface="Calibri" pitchFamily="34" charset="-122"/>
                <a:cs typeface="Calibri" pitchFamily="34" charset="-120"/>
              </a:rPr>
              <a:t>30-day readmission is a recognised marker of care quality and a major cost pressure for the HSE. </a:t>
            </a:r>
          </a:p>
          <a:p>
            <a:pPr marR="0" lvl="0" algn="just">
              <a:lnSpc>
                <a:spcPct val="115000"/>
              </a:lnSpc>
              <a:spcAft>
                <a:spcPts val="800"/>
              </a:spcAft>
            </a:pPr>
            <a:r>
              <a:rPr lang="en-US" sz="1600" dirty="0">
                <a:solidFill>
                  <a:srgbClr val="5C6E75"/>
                </a:solidFill>
                <a:ea typeface="Calibri" pitchFamily="34" charset="-122"/>
                <a:cs typeface="Calibri" pitchFamily="34" charset="-120"/>
              </a:rPr>
              <a:t>Research question: </a:t>
            </a:r>
            <a:r>
              <a:rPr lang="en-GB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Can a machine-learning model reliably rank diabetic patients by 30-day readmission risk, and can those predictions be stratified into clinically meaningful tiers mapped to HSE care pathways? </a:t>
            </a:r>
            <a:endParaRPr lang="en-US" sz="2400" b="1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1F6F7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~70k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admissions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292608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1F6F7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3246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754880" y="4526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hospitals (UCI diabetes dataset)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21040" y="292608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1F6F7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3246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641080" y="4526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within 30 days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 — readmitted within 30 days: Yes / No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" y="59412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8056" y="59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3996" y="5985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&amp;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1076" y="129573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1076" y="230157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1076" y="230157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77388" y="2301570"/>
            <a:ext cx="448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07156" y="230157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5444" y="230157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03468" y="2301570"/>
            <a:ext cx="448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33236" y="230157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3236" y="230157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LR baseline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9548" y="2301570"/>
            <a:ext cx="448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259316" y="230157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59316" y="230157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4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0B3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0.648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777240" y="5303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(vs 0.638 logistic regression)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87176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were clinically sensible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60520" y="4114800"/>
            <a:ext cx="146304" cy="146304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58716" y="517550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Number of lab procedures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60520" y="4498848"/>
            <a:ext cx="146304" cy="146304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34840" y="440740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diagnoses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60520" y="4882896"/>
            <a:ext cx="146304" cy="146304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4840" y="479145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medications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160520" y="5266944"/>
            <a:ext cx="146304" cy="146304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58716" y="4021383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hospital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60520" y="5650992"/>
            <a:ext cx="146304" cy="146304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34840" y="55595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discharge destination</a:t>
            </a:r>
            <a:endParaRPr lang="en-US" sz="15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60E0A291-4248-3C8C-9802-6AC9677133F1}"/>
              </a:ext>
            </a:extLst>
          </p:cNvPr>
          <p:cNvSpPr/>
          <p:nvPr/>
        </p:nvSpPr>
        <p:spPr>
          <a:xfrm>
            <a:off x="1944116" y="1039698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</p:spPr>
        <p:txBody>
          <a:bodyPr/>
          <a:lstStyle/>
          <a:p>
            <a:pPr algn="ctr">
              <a:lnSpc>
                <a:spcPct val="95000"/>
              </a:lnSpc>
            </a:pP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and </a:t>
            </a:r>
          </a:p>
          <a:p>
            <a:pPr algn="ctr">
              <a:lnSpc>
                <a:spcPct val="95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7D49861D-83E8-3C1A-BFCE-CEFBA3C6325D}"/>
              </a:ext>
            </a:extLst>
          </p:cNvPr>
          <p:cNvSpPr/>
          <p:nvPr/>
        </p:nvSpPr>
        <p:spPr>
          <a:xfrm>
            <a:off x="4870196" y="1042238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</p:spPr>
        <p:txBody>
          <a:bodyPr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Exploratory Data Analysis</a:t>
            </a: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699F1BFB-AAB6-A639-4282-2D90CCCDEFF5}"/>
              </a:ext>
            </a:extLst>
          </p:cNvPr>
          <p:cNvSpPr/>
          <p:nvPr/>
        </p:nvSpPr>
        <p:spPr>
          <a:xfrm>
            <a:off x="7796276" y="1035126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E7C86"/>
          </a:solidFill>
          <a:ln/>
        </p:spPr>
        <p:txBody>
          <a:bodyPr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Data Preprocessing and Feature Engineering</a:t>
            </a:r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7A43BF91-DFBC-00AF-7F1F-972F5D5C617D}"/>
              </a:ext>
            </a:extLst>
          </p:cNvPr>
          <p:cNvSpPr/>
          <p:nvPr/>
        </p:nvSpPr>
        <p:spPr>
          <a:xfrm>
            <a:off x="10274300" y="1021410"/>
            <a:ext cx="448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BFED1536-FB45-147F-DBC8-DA27A7F75ED5}"/>
              </a:ext>
            </a:extLst>
          </p:cNvPr>
          <p:cNvSpPr/>
          <p:nvPr/>
        </p:nvSpPr>
        <p:spPr>
          <a:xfrm>
            <a:off x="7384796" y="1021918"/>
            <a:ext cx="448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736160D3-EE88-0EDB-C277-7F3D8B82684D}"/>
              </a:ext>
            </a:extLst>
          </p:cNvPr>
          <p:cNvSpPr/>
          <p:nvPr/>
        </p:nvSpPr>
        <p:spPr>
          <a:xfrm>
            <a:off x="0" y="2301570"/>
            <a:ext cx="448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7A4CE55E-AA7A-3168-3A07-27BC893ECA7C}"/>
              </a:ext>
            </a:extLst>
          </p:cNvPr>
          <p:cNvSpPr/>
          <p:nvPr/>
        </p:nvSpPr>
        <p:spPr>
          <a:xfrm>
            <a:off x="4458716" y="1035126"/>
            <a:ext cx="448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 tiers → HSE post-discharge pathways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patients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17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0372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pathway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505456"/>
            <a:ext cx="201168" cy="201168"/>
          </a:xfrm>
          <a:prstGeom prst="ellipse">
            <a:avLst/>
          </a:prstGeom>
          <a:solidFill>
            <a:srgbClr val="1E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14600" y="2194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GP follow-up (standard discharge)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BF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" y="3419856"/>
            <a:ext cx="201168" cy="201168"/>
          </a:xfrm>
          <a:prstGeom prst="ellipse">
            <a:avLst/>
          </a:prstGeom>
          <a:solidFill>
            <a:srgbClr val="9A6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51460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7720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62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Community-nurse call + medication review within 7 days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9E4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3232" y="440283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402336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514600" y="40233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40233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40233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Discharge-planning team referral + 48-hour follow-up call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 = just 5% of patients</a:t>
            </a:r>
            <a:r>
              <a:rPr lang="en-US" sz="15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but nearly 3× the average readmission rate — so intensive resources target exactly where they're needed.</a:t>
            </a:r>
            <a:endParaRPr lang="en-US" sz="1500" dirty="0"/>
          </a:p>
        </p:txBody>
      </p:sp>
      <p:pic>
        <p:nvPicPr>
          <p:cNvPr id="30" name="Graphic 29" descr="Medical outline">
            <a:extLst>
              <a:ext uri="{FF2B5EF4-FFF2-40B4-BE49-F238E27FC236}">
                <a16:creationId xmlns:a16="http://schemas.microsoft.com/office/drawing/2014/main" id="{C58DC18A-CE18-29F1-DBAD-CD1978101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3960" y="946404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a costed business case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parameters (published HSE / literature)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bed-day cost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€878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081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readmission stay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30815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days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7398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readmission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37398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€5,092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F1F6F7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3982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effectiveness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43982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5513832" cy="3977640"/>
          </a:xfrm>
          <a:prstGeom prst="roundRect">
            <a:avLst>
              <a:gd name="adj" fmla="val 2299"/>
            </a:avLst>
          </a:prstGeom>
          <a:solidFill>
            <a:srgbClr val="0B3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net saving per cohort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~€207,000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630936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High + Medium tiers at 20% intervention effectiveness.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4709160"/>
            <a:ext cx="5120640" cy="0"/>
          </a:xfrm>
          <a:prstGeom prst="line">
            <a:avLst/>
          </a:prstGeom>
          <a:noFill/>
          <a:ln w="12700">
            <a:solidFill>
              <a:srgbClr val="1C5A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Cost-saving while intervention stays below </a:t>
            </a:r>
            <a:r>
              <a:rPr lang="en-US" sz="1300" b="1" dirty="0">
                <a:solidFill>
                  <a:srgbClr val="16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€136 / patient</a:t>
            </a: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Sensitivity analysis: only loses money if interventions are both expensive and weak.</a:t>
            </a:r>
            <a:endParaRPr lang="en-US" sz="1300" dirty="0"/>
          </a:p>
        </p:txBody>
      </p:sp>
      <p:pic>
        <p:nvPicPr>
          <p:cNvPr id="26" name="Graphic 25" descr="First aid kit outline">
            <a:extLst>
              <a:ext uri="{FF2B5EF4-FFF2-40B4-BE49-F238E27FC236}">
                <a16:creationId xmlns:a16="http://schemas.microsoft.com/office/drawing/2014/main" id="{0AFC5A7A-A6CD-CA6B-0208-D89E6F603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6196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TOOL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</a:t>
            </a:r>
            <a:r>
              <a:rPr lang="en-US" sz="3200" b="1" dirty="0" err="1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r>
              <a:rPr lang="en-US" sz="32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tool 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project, operational: a clinician or manager can use the model directly.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1F6F7"/>
          </a:solidFill>
          <a:ln w="15875">
            <a:solidFill>
              <a:srgbClr val="C4D6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9834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Assessment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patient → risk score, tier &amp; recommended pathway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70832" y="233172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1F6F7"/>
          </a:solidFill>
          <a:ln w="15875">
            <a:solidFill>
              <a:srgbClr val="C4D6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70832" y="49834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62272" y="53492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split across Low / Medium / High tiers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93024" y="233172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1F6F7"/>
          </a:solidFill>
          <a:ln w="15875">
            <a:solidFill>
              <a:srgbClr val="C4D6D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93024" y="49834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Cost-Impact Analysis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84464" y="53492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savings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7193D6-9463-48B2-96F0-7AAD7CECE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456432" cy="2514600"/>
          </a:xfrm>
          <a:prstGeom prst="rect">
            <a:avLst/>
          </a:prstGeom>
          <a:ln>
            <a:solidFill>
              <a:schemeClr val="tx1"/>
            </a:solidFill>
            <a:prstDash val="lgDashDotDot"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CA1A750-DA87-19C0-8E57-F250AB5CD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331720"/>
            <a:ext cx="3456432" cy="2499360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C0AA72A-72B9-8A21-B256-D30D5B1FB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3" y="2336800"/>
            <a:ext cx="3450337" cy="2494279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</p:pic>
      <p:pic>
        <p:nvPicPr>
          <p:cNvPr id="32" name="Graphic 31" descr="Doctor female with solid fill">
            <a:extLst>
              <a:ext uri="{FF2B5EF4-FFF2-40B4-BE49-F238E27FC236}">
                <a16:creationId xmlns:a16="http://schemas.microsoft.com/office/drawing/2014/main" id="{7E2B017C-AC6D-1CAB-9827-81BD7C0F6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6360" y="932688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026664"/>
            <a:ext cx="182880" cy="182880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turned into a costed, actionable pathway aligned with the Irish health service.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593592"/>
            <a:ext cx="182880" cy="182880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493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stratified into three HSE post-discharge tiers, not a bare yes/no output.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82880" cy="182880"/>
          </a:xfrm>
          <a:prstGeom prst="ellipse">
            <a:avLst/>
          </a:prstGeom>
          <a:solidFill>
            <a:srgbClr val="16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40599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and leakage-free methods; savings framed for reinvestment into care.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pic>
        <p:nvPicPr>
          <p:cNvPr id="12" name="Graphic 11" descr="Stethoscope with solid fill">
            <a:extLst>
              <a:ext uri="{FF2B5EF4-FFF2-40B4-BE49-F238E27FC236}">
                <a16:creationId xmlns:a16="http://schemas.microsoft.com/office/drawing/2014/main" id="{27BF1EEA-BD37-85EE-A883-60D66973AB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2160" y="19202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460</Words>
  <Application>Microsoft Office PowerPoint</Application>
  <PresentationFormat>Widescreen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 Wai Thone</cp:lastModifiedBy>
  <cp:revision>6</cp:revision>
  <dcterms:created xsi:type="dcterms:W3CDTF">2026-07-16T13:32:41Z</dcterms:created>
  <dcterms:modified xsi:type="dcterms:W3CDTF">2026-07-22T08:42:42Z</dcterms:modified>
</cp:coreProperties>
</file>